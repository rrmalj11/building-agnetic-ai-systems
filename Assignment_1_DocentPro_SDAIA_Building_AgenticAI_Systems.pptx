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9"/>
  </p:notesMasterIdLst>
  <p:handoutMasterIdLst>
    <p:handoutMasterId r:id="rId10"/>
  </p:handoutMasterIdLst>
  <p:sldIdLst>
    <p:sldId id="350" r:id="rId5"/>
    <p:sldId id="365" r:id="rId6"/>
    <p:sldId id="364" r:id="rId7"/>
    <p:sldId id="366" r:id="rId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5226" autoAdjust="0"/>
  </p:normalViewPr>
  <p:slideViewPr>
    <p:cSldViewPr snapToGrid="0">
      <p:cViewPr>
        <p:scale>
          <a:sx n="73" d="100"/>
          <a:sy n="73" d="100"/>
        </p:scale>
        <p:origin x="97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A15AE-E040-4F31-96C6-FD066D034FFB}" type="datetime1">
              <a:rPr lang="en-GB" smtClean="0"/>
              <a:pPr/>
              <a:t>09/03/2026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8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noProof="0" smtClean="0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20174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860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C02CDA83-4160-4EEB-AD7D-1C57C21837F3}" type="datetime3">
              <a:rPr lang="en-GB" noProof="0" smtClean="0">
                <a:latin typeface="+mn-lt"/>
              </a:rPr>
              <a:t>9 March,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4200668-9301-4F8B-89F3-A4E2AEA80049}" type="datetime3">
              <a:rPr lang="en-GB" noProof="0" smtClean="0">
                <a:latin typeface="+mn-lt"/>
              </a:rPr>
              <a:t>9 March,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9 March, 2026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1E6A16EE-7FBD-4E62-A186-69A1E1C8758D}" type="datetime3">
              <a:rPr lang="en-GB" noProof="0" smtClean="0">
                <a:latin typeface="+mn-lt"/>
              </a:rPr>
              <a:t>9 March, 2026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GB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D21FA074-9295-430E-9633-F682F8C96958}" type="datetime3">
              <a:rPr lang="en-GB" noProof="0" smtClean="0">
                <a:latin typeface="+mn-lt"/>
              </a:rPr>
              <a:t>9 March,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D33AD83D-9671-4762-AF03-9C719A9CD695}" type="datetime3">
              <a:rPr lang="en-GB" noProof="0" smtClean="0">
                <a:latin typeface="+mn-lt"/>
              </a:rPr>
              <a:t>9 March, 2026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F88F5F63-8808-4375-85CE-D0FAFA3BBE65}" type="datetime3">
              <a:rPr lang="en-GB" noProof="0" smtClean="0">
                <a:latin typeface="+mn-lt"/>
              </a:rPr>
              <a:t>9 March,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6D17C7AE-DC41-4D6E-8CE7-A0296D62536F}" type="datetime3">
              <a:rPr lang="en-GB" noProof="0" smtClean="0">
                <a:latin typeface="+mn-lt"/>
              </a:rPr>
              <a:t>9 March,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0971D3F5-C297-4F98-9679-48877DEF0EC7}" type="datetime3">
              <a:rPr lang="en-GB" noProof="0" smtClean="0">
                <a:latin typeface="+mn-lt"/>
              </a:rPr>
              <a:t>9 March, 2026</a:t>
            </a:fld>
            <a:endParaRPr lang="en-GB" noProof="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8AC5E797-DDC7-4716-ABC9-2C172A510C23}" type="datetime3">
              <a:rPr lang="en-GB" noProof="0" smtClean="0">
                <a:latin typeface="+mn-lt"/>
              </a:rPr>
              <a:t>9 March, 2026</a:t>
            </a:fld>
            <a:endParaRPr lang="en-GB" noProof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entpro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langchain.com/customers-docentpro/?_gl=1*cpodhd*_gcl_au*MTIxMDYyNjA1MS4xNzczMDA2MDg1*_ga*MTE4ODQ3MzM3NS4xNzczMDA2MDg1*_ga_47WX3HKKY2*czE3NzMwNjI1NjIkbzQkZzEkdDE3NzMwNjI3NDYkajI0JGwwJGgw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2489" y="1190573"/>
            <a:ext cx="5491571" cy="1514019"/>
          </a:xfrm>
        </p:spPr>
        <p:txBody>
          <a:bodyPr rtlCol="0"/>
          <a:lstStyle/>
          <a:p>
            <a:r>
              <a:rPr lang="en-GB" b="0" dirty="0">
                <a:hlinkClick r:id="rId3"/>
              </a:rPr>
              <a:t>Docent Pro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3" y="4444449"/>
            <a:ext cx="4656083" cy="1435611"/>
          </a:xfrm>
        </p:spPr>
        <p:txBody>
          <a:bodyPr rtlCol="0"/>
          <a:lstStyle/>
          <a:p>
            <a:pPr rtl="0">
              <a:lnSpc>
                <a:spcPct val="87000"/>
              </a:lnSpc>
              <a:spcBef>
                <a:spcPts val="0"/>
              </a:spcBef>
            </a:pPr>
            <a:r>
              <a:rPr lang="en-GB" dirty="0">
                <a:latin typeface="+mj-lt"/>
              </a:rPr>
              <a:t>Presented by: </a:t>
            </a:r>
            <a:endParaRPr lang="ar-SA" dirty="0">
              <a:latin typeface="+mj-lt"/>
            </a:endParaRPr>
          </a:p>
          <a:p>
            <a:pPr rtl="0">
              <a:lnSpc>
                <a:spcPct val="87000"/>
              </a:lnSpc>
              <a:spcBef>
                <a:spcPts val="0"/>
              </a:spcBef>
            </a:pPr>
            <a:r>
              <a:rPr lang="en-GB" dirty="0"/>
              <a:t>Raghad </a:t>
            </a:r>
            <a:r>
              <a:rPr lang="en-GB" dirty="0" err="1"/>
              <a:t>Aljadeed</a:t>
            </a:r>
            <a:r>
              <a:rPr lang="en-GB" dirty="0"/>
              <a:t> </a:t>
            </a:r>
            <a:r>
              <a:rPr lang="ar-SA" dirty="0"/>
              <a:t> |</a:t>
            </a:r>
            <a:r>
              <a:rPr lang="en-GB" dirty="0"/>
              <a:t>Artificial Intelligence</a:t>
            </a:r>
            <a:r>
              <a:rPr lang="ar-SA" dirty="0"/>
              <a:t> | </a:t>
            </a:r>
            <a:r>
              <a:rPr lang="en-GB" dirty="0"/>
              <a:t>Princess Nourah bint Abdulrahman University</a:t>
            </a:r>
            <a:r>
              <a:rPr lang="ar-SA" dirty="0"/>
              <a:t> | </a:t>
            </a:r>
            <a:r>
              <a:rPr lang="en-GB" dirty="0"/>
              <a:t>Computer Science Department</a:t>
            </a:r>
          </a:p>
          <a:p>
            <a:pPr rt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8EE8D73-770B-E192-2903-6AB1F4D83C03}"/>
              </a:ext>
            </a:extLst>
          </p:cNvPr>
          <p:cNvSpPr txBox="1">
            <a:spLocks/>
          </p:cNvSpPr>
          <p:nvPr/>
        </p:nvSpPr>
        <p:spPr>
          <a:xfrm>
            <a:off x="6367053" y="2795911"/>
            <a:ext cx="5491570" cy="1755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Industry: </a:t>
            </a:r>
            <a:r>
              <a:rPr lang="en-GB" dirty="0">
                <a:solidFill>
                  <a:schemeClr val="accent3"/>
                </a:solidFill>
              </a:rPr>
              <a:t>Travel</a:t>
            </a:r>
          </a:p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Use Case: </a:t>
            </a:r>
            <a:r>
              <a:rPr lang="en-GB" dirty="0">
                <a:solidFill>
                  <a:schemeClr val="accent3"/>
                </a:solidFill>
              </a:rPr>
              <a:t>GenAI Embedded Product Experiences</a:t>
            </a:r>
          </a:p>
          <a:p>
            <a:pPr>
              <a:lnSpc>
                <a:spcPct val="87000"/>
              </a:lnSpc>
              <a:spcBef>
                <a:spcPts val="0"/>
              </a:spcBef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References: </a:t>
            </a:r>
          </a:p>
          <a:p>
            <a:pPr marL="285750" indent="-28575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/>
                </a:solidFill>
                <a:hlinkClick r:id="rId4"/>
              </a:rPr>
              <a:t>LangChain Blog – DocentPro Case Study</a:t>
            </a:r>
            <a:endParaRPr lang="en-GB" dirty="0">
              <a:solidFill>
                <a:schemeClr val="accent3"/>
              </a:solidFill>
            </a:endParaRPr>
          </a:p>
          <a:p>
            <a:pPr marL="285750" indent="-28575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/>
                </a:solidFill>
                <a:hlinkClick r:id="rId3"/>
              </a:rPr>
              <a:t>DocentPro Official Website</a:t>
            </a:r>
            <a:endParaRPr lang="en-GB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420666-A697-C958-9248-2C6903AA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Use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46C28-13F5-CCD7-E695-B8289FC03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8507" y="2289062"/>
            <a:ext cx="4953000" cy="2635928"/>
          </a:xfrm>
        </p:spPr>
        <p:txBody>
          <a:bodyPr/>
          <a:lstStyle/>
          <a:p>
            <a:r>
              <a:rPr lang="en-GB" sz="1800" b="1" dirty="0">
                <a:solidFill>
                  <a:schemeClr val="tx2"/>
                </a:solidFill>
              </a:rPr>
              <a:t>Problem</a:t>
            </a:r>
          </a:p>
          <a:p>
            <a:r>
              <a:rPr lang="en-GB" sz="1800" dirty="0"/>
              <a:t>Travel platforms often provide static information and lack personalization for </a:t>
            </a:r>
            <a:r>
              <a:rPr lang="en-GB" sz="1800" dirty="0" err="1"/>
              <a:t>travelers</a:t>
            </a:r>
            <a:r>
              <a:rPr lang="en-GB" sz="1800" dirty="0"/>
              <a:t>.</a:t>
            </a:r>
          </a:p>
          <a:p>
            <a:pPr>
              <a:lnSpc>
                <a:spcPct val="30000"/>
              </a:lnSpc>
            </a:pPr>
            <a:endParaRPr lang="en-GB" sz="1800" dirty="0"/>
          </a:p>
          <a:p>
            <a:pPr>
              <a:lnSpc>
                <a:spcPct val="30000"/>
              </a:lnSpc>
            </a:pPr>
            <a:endParaRPr lang="en-GB" sz="1800" dirty="0"/>
          </a:p>
          <a:p>
            <a:pPr>
              <a:lnSpc>
                <a:spcPct val="30000"/>
              </a:lnSpc>
            </a:pPr>
            <a:endParaRPr lang="en-GB" sz="1800" dirty="0"/>
          </a:p>
          <a:p>
            <a:r>
              <a:rPr lang="en-GB" sz="1800" b="1" dirty="0">
                <a:solidFill>
                  <a:schemeClr val="tx2"/>
                </a:solidFill>
              </a:rPr>
              <a:t>Solution</a:t>
            </a:r>
          </a:p>
          <a:p>
            <a:r>
              <a:rPr lang="en-GB" sz="1800" dirty="0"/>
              <a:t>DocentPro integrates generative AI using LangChain to create an intelligent travel assistant.</a:t>
            </a:r>
          </a:p>
          <a:p>
            <a:endParaRPr lang="en-GB" sz="1800" dirty="0"/>
          </a:p>
          <a:p>
            <a:endParaRPr lang="en-GB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C73DF-E583-B1BE-C2E5-EF3A600C1E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2</a:t>
            </a:fld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205B1-D3B3-D15D-DD03-EEFEA8305B03}"/>
              </a:ext>
            </a:extLst>
          </p:cNvPr>
          <p:cNvSpPr txBox="1"/>
          <p:nvPr/>
        </p:nvSpPr>
        <p:spPr>
          <a:xfrm>
            <a:off x="5905500" y="2255338"/>
            <a:ext cx="6303758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What the system does</a:t>
            </a:r>
          </a:p>
          <a:p>
            <a:pPr>
              <a:lnSpc>
                <a:spcPct val="30000"/>
              </a:lnSpc>
            </a:pPr>
            <a:endParaRPr lang="en-GB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answers </a:t>
            </a:r>
            <a:r>
              <a:rPr lang="en-GB" dirty="0" err="1">
                <a:solidFill>
                  <a:schemeClr val="bg1"/>
                </a:solidFill>
              </a:rPr>
              <a:t>traveler</a:t>
            </a:r>
            <a:r>
              <a:rPr lang="en-GB" dirty="0">
                <a:solidFill>
                  <a:schemeClr val="bg1"/>
                </a:solidFill>
              </a:rPr>
              <a:t>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recommends attractions, restaurants, hotels, and activities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generates personalized travel itineraries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helps users discover places and activities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4FD5FC-8535-6E72-1B38-60FDDC2BF85A}"/>
              </a:ext>
            </a:extLst>
          </p:cNvPr>
          <p:cNvSpPr txBox="1"/>
          <p:nvPr/>
        </p:nvSpPr>
        <p:spPr>
          <a:xfrm>
            <a:off x="5905500" y="3995788"/>
            <a:ext cx="4608368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Result </a:t>
            </a:r>
          </a:p>
          <a:p>
            <a:pPr>
              <a:lnSpc>
                <a:spcPct val="30000"/>
              </a:lnSpc>
            </a:pPr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 more interactive and personalized travel experience.</a:t>
            </a:r>
          </a:p>
        </p:txBody>
      </p:sp>
    </p:spTree>
    <p:extLst>
      <p:ext uri="{BB962C8B-B14F-4D97-AF65-F5344CB8AC3E}">
        <p14:creationId xmlns:p14="http://schemas.microsoft.com/office/powerpoint/2010/main" val="2250062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55" y="939800"/>
            <a:ext cx="8647568" cy="610863"/>
          </a:xfrm>
        </p:spPr>
        <p:txBody>
          <a:bodyPr rtlCol="0">
            <a:normAutofit/>
          </a:bodyPr>
          <a:lstStyle/>
          <a:p>
            <a:r>
              <a:rPr lang="en-GB" dirty="0"/>
              <a:t> Agentic vs Non-LLM Components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03A1E73-C790-447A-974F-B3ADB50149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r>
              <a:rPr lang="en-GB" dirty="0"/>
              <a:t>Agentic Components (LLM-based)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06E4DF9-127F-4650-8BAA-2521A3788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1550" y="2743325"/>
            <a:ext cx="4241581" cy="2396233"/>
          </a:xfrm>
        </p:spPr>
        <p:txBody>
          <a:bodyPr rtlCol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Travel planning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Restaurant / hotel / attraction / </a:t>
            </a:r>
            <a:r>
              <a:rPr lang="en-GB" dirty="0" err="1"/>
              <a:t>activites</a:t>
            </a:r>
            <a:r>
              <a:rPr lang="en-GB" dirty="0"/>
              <a:t>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Conversational travel assistant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AI recommendation generation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3"/>
                </a:solidFill>
              </a:rPr>
              <a:t>These components use LLMs to understand requests and generate responses.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DA232CE-EB44-41DD-920C-AEDD5C33D2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1021" y="2285999"/>
            <a:ext cx="4838700" cy="315915"/>
          </a:xfrm>
        </p:spPr>
        <p:txBody>
          <a:bodyPr rtlCol="0"/>
          <a:lstStyle/>
          <a:p>
            <a:r>
              <a:rPr lang="en-GB" dirty="0"/>
              <a:t>Non-LLM Components (Software)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09D80D2-95FB-43C6-96F8-7EF7737C2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1021" y="2743325"/>
            <a:ext cx="4838700" cy="2306416"/>
          </a:xfrm>
        </p:spPr>
        <p:txBody>
          <a:bodyPr rtlCol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Travel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K-Means clustering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Maps / APIs / backend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44071-0CE2-7746-9315-22EC28A0F46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3</a:t>
            </a:fld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8BCD82-BB20-C116-556D-852AD02DF495}"/>
              </a:ext>
            </a:extLst>
          </p:cNvPr>
          <p:cNvSpPr txBox="1"/>
          <p:nvPr/>
        </p:nvSpPr>
        <p:spPr>
          <a:xfrm>
            <a:off x="6026110" y="4606377"/>
            <a:ext cx="530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3"/>
                </a:solidFill>
              </a:rPr>
              <a:t>These components provide data and system functionality but do not generate AI responses.</a:t>
            </a:r>
          </a:p>
        </p:txBody>
      </p:sp>
    </p:spTree>
    <p:extLst>
      <p:ext uri="{BB962C8B-B14F-4D97-AF65-F5344CB8AC3E}">
        <p14:creationId xmlns:p14="http://schemas.microsoft.com/office/powerpoint/2010/main" val="64384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EE03F9-9281-762B-1234-8083F5C44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547106"/>
            <a:ext cx="5491571" cy="1514019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150604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1_TF78853419_Win32.potx" id="{4B078287-5F8B-4412-8B56-22BABE512007}" vid="{40D3F4AB-D386-4158-AD50-2BEE84BA26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{0898C3F8-F465-4B0E-9512-D46CB8C03888}tf78853419_win32</Template>
  <TotalTime>880</TotalTime>
  <Words>183</Words>
  <Application>Microsoft Office PowerPoint</Application>
  <PresentationFormat>Widescreen</PresentationFormat>
  <Paragraphs>45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Franklin Gothic Book</vt:lpstr>
      <vt:lpstr>Franklin Gothic Demi</vt:lpstr>
      <vt:lpstr>Wingdings</vt:lpstr>
      <vt:lpstr>Theme1</vt:lpstr>
      <vt:lpstr>Docent Pro</vt:lpstr>
      <vt:lpstr>The Use Case</vt:lpstr>
      <vt:lpstr> Agentic vs Non-LLM Components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رغد مساعد بن عبدالرحمن الجديد</dc:creator>
  <cp:lastModifiedBy>رغد مساعد بن عبدالرحمن الجديد</cp:lastModifiedBy>
  <cp:revision>1</cp:revision>
  <dcterms:created xsi:type="dcterms:W3CDTF">2026-03-09T12:21:16Z</dcterms:created>
  <dcterms:modified xsi:type="dcterms:W3CDTF">2026-03-10T03:02:13Z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